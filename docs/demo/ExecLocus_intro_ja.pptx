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64a1d7c504ba3" /><Relationship Type="http://schemas.openxmlformats.org/officeDocument/2006/relationships/extended-properties" Target="/docProps/app.xml" Id="Re35b9c08e11c4873" /><Relationship Type="http://schemas.openxmlformats.org/officeDocument/2006/relationships/officeDocument" Target="/ppt/presentation.xml" Id="R539271caea97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5c5ca29ebc4383"/>
  </p:sldMasterIdLst>
  <p:notesMasterIdLst>
    <p:notesMasterId xmlns:r="http://schemas.openxmlformats.org/officeDocument/2006/relationships" r:id="Rdc4933c752cb4e48"/>
  </p:notesMasterIdLst>
  <p:sldIdLst>
    <p:sldId xmlns:r="http://schemas.openxmlformats.org/officeDocument/2006/relationships" id="256" r:id="R1f6e5509a5044185"/>
    <p:sldId xmlns:r="http://schemas.openxmlformats.org/officeDocument/2006/relationships" id="257" r:id="R97f8788189ff486f"/>
    <p:sldId xmlns:r="http://schemas.openxmlformats.org/officeDocument/2006/relationships" id="258" r:id="Rd08e21cc0c8245e5"/>
    <p:sldId xmlns:r="http://schemas.openxmlformats.org/officeDocument/2006/relationships" id="259" r:id="Rb317b2708eb94fd8"/>
    <p:sldId xmlns:r="http://schemas.openxmlformats.org/officeDocument/2006/relationships" id="260" r:id="R26d81a316b84467a"/>
    <p:sldId xmlns:r="http://schemas.openxmlformats.org/officeDocument/2006/relationships" id="261" r:id="R225f73e0bd004ed9"/>
    <p:sldId xmlns:r="http://schemas.openxmlformats.org/officeDocument/2006/relationships" id="262" r:id="R8dc1c537ceb647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45bc121804ec5" /><Relationship Type="http://schemas.openxmlformats.org/officeDocument/2006/relationships/slideMaster" Target="/ppt/slideMasters/slideMaster1.xml" Id="Rc65c5ca29ebc4383" /><Relationship Type="http://schemas.openxmlformats.org/officeDocument/2006/relationships/notesMaster" Target="/ppt/notesMasters/notesMaster1.xml" Id="Rdc4933c752cb4e48" /><Relationship Type="http://schemas.openxmlformats.org/officeDocument/2006/relationships/presProps" Target="/ppt/presProps.xml" Id="Rff65d4fd2f204cba" /><Relationship Type="http://schemas.openxmlformats.org/officeDocument/2006/relationships/tableStyles" Target="/ppt/tableStyles.xml" Id="R0e282cc9bc6645fe" /><Relationship Type="http://schemas.openxmlformats.org/officeDocument/2006/relationships/slide" Target="/ppt/slides/slide1.xml" Id="R1f6e5509a5044185" /><Relationship Type="http://schemas.openxmlformats.org/officeDocument/2006/relationships/slide" Target="/ppt/slides/slide2.xml" Id="R97f8788189ff486f" /><Relationship Type="http://schemas.openxmlformats.org/officeDocument/2006/relationships/slide" Target="/ppt/slides/slide3.xml" Id="Rd08e21cc0c8245e5" /><Relationship Type="http://schemas.openxmlformats.org/officeDocument/2006/relationships/slide" Target="/ppt/slides/slide4.xml" Id="Rb317b2708eb94fd8" /><Relationship Type="http://schemas.openxmlformats.org/officeDocument/2006/relationships/slide" Target="/ppt/slides/slide5.xml" Id="R26d81a316b84467a" /><Relationship Type="http://schemas.openxmlformats.org/officeDocument/2006/relationships/slide" Target="/ppt/slides/slide6.xml" Id="R225f73e0bd004ed9" /><Relationship Type="http://schemas.openxmlformats.org/officeDocument/2006/relationships/slide" Target="/ppt/slides/slide7.xml" Id="R8dc1c537ceb647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42a7703b3f47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1ddfa4d89141de" /><Relationship Type="http://schemas.openxmlformats.org/officeDocument/2006/relationships/notesMaster" Target="/ppt/notesMasters/notesMaster1.xml" Id="R4b1027e53954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4211d78d54a45" /><Relationship Type="http://schemas.openxmlformats.org/officeDocument/2006/relationships/notesMaster" Target="/ppt/notesMasters/notesMaster1.xml" Id="Rb604189a12ff48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c9db6b4cc470e" /><Relationship Type="http://schemas.openxmlformats.org/officeDocument/2006/relationships/notesMaster" Target="/ppt/notesMasters/notesMaster1.xml" Id="R1d2d7666627a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50578383bb4aca" /><Relationship Type="http://schemas.openxmlformats.org/officeDocument/2006/relationships/notesMaster" Target="/ppt/notesMasters/notesMaster1.xml" Id="R40283fc64d9a4a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ce984567f542a9" /><Relationship Type="http://schemas.openxmlformats.org/officeDocument/2006/relationships/notesMaster" Target="/ppt/notesMasters/notesMaster1.xml" Id="R4a5bf29420e146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20fa19f7424b55" /><Relationship Type="http://schemas.openxmlformats.org/officeDocument/2006/relationships/notesMaster" Target="/ppt/notesMasters/notesMaster1.xml" Id="Rd9610b9e4ebf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62584b8a04b32" /><Relationship Type="http://schemas.openxmlformats.org/officeDocument/2006/relationships/notesMaster" Target="/ppt/notesMasters/notesMaster1.xml" Id="Red98335714d2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https://github.com/Tanasu0417/execlocus/blob/main/docs/ONE_PAGER.ja.md</a:t>
            </a:r>
          </a:p>
          <a:p xmlns:a="http://schemas.openxmlformats.org/drawingml/2006/main">
            <a:r>
              <a:t>- https://github.com/Tanasu0417/execlocus/tree/main/docs/demo/prototype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https://github.com/Tanasu0417/execlocus/blob/main/docs/demo/RECORDING_SCENARIO.md</a:t>
            </a:r>
          </a:p>
          <a:p xmlns:a="http://schemas.openxmlformats.org/drawingml/2006/main">
            <a:r>
              <a:t>- https://github.com/Tanasu0417/execlocus/blob/main/docs/SUPPORT_MATRIX.md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https://github.com/Tanasu0417/execlocus/blob/main/docs/ONE_PAGER.ja.md</a:t>
            </a:r>
          </a:p>
          <a:p xmlns:a="http://schemas.openxmlformats.org/drawingml/2006/main">
            <a:r>
              <a:t>- https://github.com/Tanasu0417/execlocus/blob/main/docs/SUPPORT_MATRIX.md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https://github.com/Tanasu0417/execlocus/tree/main/docs/demo/prototype</a:t>
            </a:r>
          </a:p>
          <a:p xmlns:a="http://schemas.openxmlformats.org/drawingml/2006/main">
            <a:r>
              <a:t>- https://github.com/Tanasu0417/execlocus/blob/main/docs/demo/OTTER_GUIDE_SPEC.md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https://github.com/Tanasu0417/execlocus/blob/main/docs/USE_CASES.md</a:t>
            </a:r>
          </a:p>
          <a:p xmlns:a="http://schemas.openxmlformats.org/drawingml/2006/main">
            <a:r>
              <a:t>- https://github.com/Tanasu0417/execlocus/blob/main/src/rules.rs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https://github.com/Tanasu0417/execlocus/blob/main/docs/SECURITY_MODEL.md</a:t>
            </a:r>
          </a:p>
          <a:p xmlns:a="http://schemas.openxmlformats.org/drawingml/2006/main">
            <a:r>
              <a:t>- https://github.com/Tanasu0417/execlocus/blob/main/src/privacy.rs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https://github.com/Tanasu0417/execlocus/blob/main/docs/V0_1_ROADMAP.md</a:t>
            </a:r>
          </a:p>
          <a:p xmlns:a="http://schemas.openxmlformats.org/drawingml/2006/main">
            <a:r>
              <a:t>- https://github.com/Tanasu0417/execlocus/issues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533cb9a3744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ed47fb30d41b7" /><Relationship Type="http://schemas.openxmlformats.org/officeDocument/2006/relationships/slideLayout" Target="/ppt/slideLayouts/slideLayout1.xml" Id="R65dc000f09a94f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c000f09a94f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f51be2271446c" /><Relationship Type="http://schemas.openxmlformats.org/officeDocument/2006/relationships/image" Target="/ppt/media/image.jpeg" Id="R9a475a30f26f4d61" /><Relationship Type="http://schemas.openxmlformats.org/officeDocument/2006/relationships/notesSlide" Target="/ppt/notesSlides/notesSlide1.xml" Id="R60a09ae488ca49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8383ba2d24967" /><Relationship Type="http://schemas.openxmlformats.org/officeDocument/2006/relationships/image" Target="/ppt/media/image2.jpeg" Id="R2d585048366b4f13" /><Relationship Type="http://schemas.openxmlformats.org/officeDocument/2006/relationships/notesSlide" Target="/ppt/notesSlides/notesSlide2.xml" Id="R7e9886855e4f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f5a3d1f774539" /><Relationship Type="http://schemas.openxmlformats.org/officeDocument/2006/relationships/notesSlide" Target="/ppt/notesSlides/notesSlide3.xml" Id="R39659bf302e9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cd59969454f81" /><Relationship Type="http://schemas.openxmlformats.org/officeDocument/2006/relationships/image" Target="/ppt/media/image3.jpeg" Id="R09a679213f884785" /><Relationship Type="http://schemas.openxmlformats.org/officeDocument/2006/relationships/image" Target="/ppt/media/image4.jpeg" Id="R6b479cc0ce4940ac" /><Relationship Type="http://schemas.openxmlformats.org/officeDocument/2006/relationships/image" Target="/ppt/media/image5.jpeg" Id="Re12396d2a8924062" /><Relationship Type="http://schemas.openxmlformats.org/officeDocument/2006/relationships/image" Target="/ppt/media/image6.jpeg" Id="Rf92fdcc1cd7a4dcf" /><Relationship Type="http://schemas.openxmlformats.org/officeDocument/2006/relationships/notesSlide" Target="/ppt/notesSlides/notesSlide4.xml" Id="R273c33667a9c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6751a94ca4ac8" /><Relationship Type="http://schemas.openxmlformats.org/officeDocument/2006/relationships/image" Target="/ppt/media/image7.jpeg" Id="R98709a81078646eb" /><Relationship Type="http://schemas.openxmlformats.org/officeDocument/2006/relationships/notesSlide" Target="/ppt/notesSlides/notesSlide5.xml" Id="Rab2ac98fb02c4b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4f50a518d4671" /><Relationship Type="http://schemas.openxmlformats.org/officeDocument/2006/relationships/image" Target="/ppt/media/image8.jpeg" Id="Rd23aa83ae3b34ca9" /><Relationship Type="http://schemas.openxmlformats.org/officeDocument/2006/relationships/notesSlide" Target="/ppt/notesSlides/notesSlide6.xml" Id="Rd6b04c9879e7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b1edcebb4782" /><Relationship Type="http://schemas.openxmlformats.org/officeDocument/2006/relationships/notesSlide" Target="/ppt/notesSlides/notesSlide7.xml" Id="R2802f0117d03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7E8F2-DFF0-4F48-976D-B2611D7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71550"/>
            <a:ext cx="60198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D1D24"/>
          </a:solidFill>
          <a:ln xmlns:a="http://schemas.openxmlformats.org/drawingml/2006/main" w="9525">
            <a:solidFill>
              <a:srgbClr val="29465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75a30f26f4d61"/>
          <a:stretch xmlns:a="http://schemas.openxmlformats.org/drawingml/2006/main"/>
        </p:blipFill>
        <p:spPr>
          <a:xfrm xmlns:a="http://schemas.openxmlformats.org/drawingml/2006/main">
            <a:off x="5772150" y="1139156"/>
            <a:ext cx="5791200" cy="3341438"/>
          </a:xfrm>
          <a:prstGeom xmlns:a="http://schemas.openxmlformats.org/drawingml/2006/main" prst="roundRect">
            <a:avLst>
              <a:gd name="adj" fmla="val 331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08CB7-8DCB-42CD-AA4C-C5D64813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3FE22-367C-4DF2-BE02-2CEEC9A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7FBF6"/>
                </a:solidFill>
              </a:defRPr>
            </a:pPr>
            <a:r>
              <a:rPr sz="5400" b="1">
                <a:solidFill>
                  <a:srgbClr val="E7FBF6"/>
                </a:solidFill>
              </a:rPr>
              <a:t>ExecLocus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6C95-CF02-4C5E-BD1C-DFD35E5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7FBF6"/>
                </a:solidFill>
              </a:defRPr>
            </a:pPr>
            <a:r>
              <a:rPr sz="3450" b="1">
                <a:solidFill>
                  <a:srgbClr val="E7FBF6"/>
                </a:solidFill>
              </a:rPr>
              <a:t>Windows × WSLの境界を、</a:t>
            </a:r>
          </a:p>
          <a:p xmlns:a="http://schemas.openxmlformats.org/drawingml/2006/main">
            <a:pPr algn="l">
              <a:defRPr sz="3450" b="1">
                <a:solidFill>
                  <a:srgbClr val="E7FBF6"/>
                </a:solidFill>
              </a:defRPr>
            </a:pPr>
            <a:r>
              <a:rPr sz="3450" b="1">
                <a:solidFill>
                  <a:srgbClr val="E7FBF6"/>
                </a:solidFill>
              </a:rPr>
              <a:t>証拠付きで。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83139-D07C-4C85-B5D4-6CCF3A1B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48075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AA4AC"/>
                </a:solidFill>
              </a:defRPr>
            </a:pPr>
            <a:r>
              <a:rPr sz="1800" b="0">
                <a:solidFill>
                  <a:srgbClr val="8AA4AC"/>
                </a:solidFill>
              </a:rPr>
              <a:t>AIコーディングエージェントの実行環境、候補、</a:t>
            </a:r>
          </a:p>
          <a:p xmlns:a="http://schemas.openxmlformats.org/drawingml/2006/main">
            <a:pPr algn="l">
              <a:defRPr sz="1800" b="0">
                <a:solidFill>
                  <a:srgbClr val="8AA4AC"/>
                </a:solidFill>
              </a:defRPr>
            </a:pPr>
            <a:r>
              <a:rPr sz="1800" b="0">
                <a:solidFill>
                  <a:srgbClr val="8AA4AC"/>
                </a:solidFill>
              </a:rPr>
              <a:t>ファイル配置の意図を1回の診断へ。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E7F93-D049-45DB-82CB-CF87F3C0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E3CC"/>
                </a:solidFill>
              </a:defRPr>
            </a:pPr>
            <a:r>
              <a:rPr sz="1050" b="0">
                <a:solidFill>
                  <a:srgbClr val="69E3CC"/>
                </a:solidFill>
              </a:rPr>
              <a:t>ローカルのみ  ·  読み取り専用  ·  送信なし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6DA9-AAC9-46F9-890B-FAF2E8C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4AC"/>
                </a:solidFill>
              </a:defRPr>
            </a:pPr>
            <a:r>
              <a:rPr sz="1050" b="0">
                <a:solidFill>
                  <a:srgbClr val="8AA4AC"/>
                </a:solidFill>
              </a:rPr>
              <a:t>v0.1 ソース版</a:t>
            </a:r>
          </a:p>
        </p:txBody>
      </p:sp>
    </p:spTree>
    <p:extLst>
      <p:ext uri="{BB962C8B-B14F-4D97-AF65-F5344CB8AC3E}">
        <p14:creationId xmlns:p14="http://schemas.microsoft.com/office/powerpoint/2010/main" val="2002498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B88D7-8ABE-4CD6-AAD1-54B2FC78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01 ·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E6E60-EF28-4FA5-B66A-037E2AB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2026.07 · ソース版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38DF-2715-4114-8A0A-4B0EEE9B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7FBF6"/>
                </a:solidFill>
              </a:defRPr>
            </a:pPr>
            <a:r>
              <a:rPr sz="3225" b="1">
                <a:solidFill>
                  <a:srgbClr val="E7FBF6"/>
                </a:solidFill>
              </a:rPr>
              <a:t>同じプロジェクトでも、選ばれるNodeは同じとは限らない。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AA24F-0B15-4A48-8FA0-EB8F73E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A4AC"/>
                </a:solidFill>
              </a:defRPr>
            </a:pPr>
            <a:r>
              <a:rPr sz="1500" b="0">
                <a:solidFill>
                  <a:srgbClr val="8AA4AC"/>
                </a:solidFill>
              </a:rPr>
              <a:t>WindowsとWSLは別の実行環境。同じソース一式でも、シェルの規則と実行形式は分かれます。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85048366b4f13"/>
          <a:srcRect xmlns:a="http://schemas.openxmlformats.org/drawingml/2006/main" l="0" t="17467" r="0" b="17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1116330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45022-A9C2-48DF-B9FC-D53C86F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DE7F3-2259-4ADB-BA5F-950F5D7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16C09-C768-435D-B4AA-BEF1738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8875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B1D1D-8BF9-45CB-8CD0-C464994A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02 · 分かること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FBA48-0DDA-4446-BF14-DB609CF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2026.07 · ソース版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5808D-7A67-4E58-9FCB-E19539F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E7FBF6"/>
                </a:solidFill>
              </a:defRPr>
            </a:pPr>
            <a:r>
              <a:rPr sz="3075" b="1">
                <a:solidFill>
                  <a:srgbClr val="E7FBF6"/>
                </a:solidFill>
              </a:rPr>
              <a:t>手作業で分かれていた3つの確認を、同じ根拠モデルへ。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D74BF-FC8B-41A5-AE7A-AC22A7BC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A51E0-E383-4EE0-86DE-56EDDEC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62D"/>
          </a:solidFill>
          <a:ln xmlns:a="http://schemas.openxmlformats.org/drawingml/2006/main" w="9525">
            <a:solidFill>
              <a:srgbClr val="69E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E885F-11FF-4843-A48B-7C78C3C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E3CC"/>
                </a:solidFill>
              </a:defRPr>
            </a:pPr>
            <a:r>
              <a:rPr sz="1125" b="1">
                <a:solidFill>
                  <a:srgbClr val="69E3CC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4529-56E7-40DA-A327-1B3899C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6859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FBF6"/>
                </a:solidFill>
              </a:defRPr>
            </a:pPr>
            <a:r>
              <a:rPr sz="2250" b="1">
                <a:solidFill>
                  <a:srgbClr val="E7FBF6"/>
                </a:solidFill>
              </a:rPr>
              <a:t>どこで動いている？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6F0CA-89AA-4AB6-A46A-815D603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A4AC"/>
                </a:solidFill>
              </a:defRPr>
            </a:pPr>
            <a:r>
              <a:rPr sz="1500" b="0">
                <a:solidFill>
                  <a:srgbClr val="8AA4AC"/>
                </a:solidFill>
              </a:rPr>
              <a:t>Windows／WSL、ディストリビューション、利用者、シェル、エージェントの根拠を分離。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E467F-1A6E-4FA0-9B87-1A6855E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62D"/>
          </a:solidFill>
          <a:ln xmlns:a="http://schemas.openxmlformats.org/drawingml/2006/main" w="9525">
            <a:solidFill>
              <a:srgbClr val="69E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003FB-5405-4259-863C-35594D51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E3CC"/>
                </a:solidFill>
              </a:defRPr>
            </a:pPr>
            <a:r>
              <a:rPr sz="1125" b="1">
                <a:solidFill>
                  <a:srgbClr val="69E3CC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1AD62-3687-43DF-8D29-FBB1899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813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FBF6"/>
                </a:solidFill>
              </a:defRPr>
            </a:pPr>
            <a:r>
              <a:rPr sz="2250" b="1">
                <a:solidFill>
                  <a:srgbClr val="E7FBF6"/>
                </a:solidFill>
              </a:rPr>
              <a:t>何が選ばれる？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8F6A9-8F20-4748-8A4D-8CF8B554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908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A4AC"/>
                </a:solidFill>
              </a:defRPr>
            </a:pPr>
            <a:r>
              <a:rPr sz="1500" b="0">
                <a:solidFill>
                  <a:srgbClr val="8AA4AC"/>
                </a:solidFill>
              </a:rPr>
              <a:t>選択候補、不採用候補、実行形式、シェル規則の根拠を表示。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2F47C-D5ED-4C5C-B76C-D3B2F16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62D"/>
          </a:solidFill>
          <a:ln xmlns:a="http://schemas.openxmlformats.org/drawingml/2006/main" w="9525">
            <a:solidFill>
              <a:srgbClr val="69E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57BA8-7BDA-46E8-ABDB-DD181F33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E3CC"/>
                </a:solidFill>
              </a:defRPr>
            </a:pPr>
            <a:r>
              <a:rPr sz="1125" b="1">
                <a:solidFill>
                  <a:srgbClr val="69E3CC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C0F0D-BEE9-4E5F-B56C-C42176C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767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FBF6"/>
                </a:solidFill>
              </a:defRPr>
            </a:pPr>
            <a:r>
              <a:rPr sz="2250" b="1">
                <a:solidFill>
                  <a:srgbClr val="E7FBF6"/>
                </a:solidFill>
              </a:rPr>
              <a:t>その配置は意図どおり？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B54F1-D0D1-4B1B-A23E-D5A63CB3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A4AC"/>
                </a:solidFill>
              </a:defRPr>
            </a:pPr>
            <a:r>
              <a:rPr sz="1500" b="0">
                <a:solidFill>
                  <a:srgbClr val="8AA4AC"/>
                </a:solidFill>
              </a:rPr>
              <a:t>/mnt/cを一律否定せず、3つの利用目的で判断。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E8811-B4EA-483F-BE32-725733B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435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B8FF"/>
                </a:solidFill>
              </a:defRPr>
            </a:pPr>
            <a:r>
              <a:rPr sz="1350" b="0">
                <a:solidFill>
                  <a:srgbClr val="55B8FF"/>
                </a:solidFill>
              </a:rPr>
              <a:t>観測できないものは推測で埋めず、「取得不可」または「推定」として残します。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4B59D-46DA-4EA3-89CD-40A08C37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4FC63-07E4-48E3-95C9-DFA6229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76A1B-773B-4E8B-8740-86AD378F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9612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294C3-5DC5-42E9-98B8-631F3B9C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03 · 操作の流れ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86517-9483-4E79-8E6F-E6D16604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2026.07 · ソース版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4E5C4-31AF-4E38-A511-B7F3421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7FBF6"/>
                </a:solidFill>
              </a:defRPr>
            </a:pPr>
            <a:r>
              <a:rPr sz="3225" b="1">
                <a:solidFill>
                  <a:srgbClr val="E7FBF6"/>
                </a:solidFill>
              </a:rPr>
              <a:t>1つのコマンドから、比較・説明・安全な共有まで。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679213f884785"/>
          <a:stretch xmlns:a="http://schemas.openxmlformats.org/drawingml/2006/main"/>
        </p:blipFill>
        <p:spPr>
          <a:xfrm xmlns:a="http://schemas.openxmlformats.org/drawingml/2006/main">
            <a:off x="514350" y="2553719"/>
            <a:ext cx="2571750" cy="1483862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94B95-D1AE-4E35-BAA1-2E3DD0B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B8FF"/>
                </a:solidFill>
              </a:defRPr>
            </a:pPr>
            <a:r>
              <a:rPr sz="1125" b="1">
                <a:solidFill>
                  <a:srgbClr val="55B8FF"/>
                </a:solidFill>
              </a:rPr>
              <a:t>1  診断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79cc0ce4940ac"/>
          <a:stretch xmlns:a="http://schemas.openxmlformats.org/drawingml/2006/main"/>
        </p:blipFill>
        <p:spPr>
          <a:xfrm xmlns:a="http://schemas.openxmlformats.org/drawingml/2006/main">
            <a:off x="3314700" y="2553719"/>
            <a:ext cx="2571750" cy="1483862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99C8C-491B-4BD6-9CE3-D648B9F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B8FF"/>
                </a:solidFill>
              </a:defRPr>
            </a:pPr>
            <a:r>
              <a:rPr sz="1125" b="1">
                <a:solidFill>
                  <a:srgbClr val="55B8FF"/>
                </a:solidFill>
              </a:rPr>
              <a:t>2  比較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396d2a8924062"/>
          <a:stretch xmlns:a="http://schemas.openxmlformats.org/drawingml/2006/main"/>
        </p:blipFill>
        <p:spPr>
          <a:xfrm xmlns:a="http://schemas.openxmlformats.org/drawingml/2006/main">
            <a:off x="6115050" y="2553719"/>
            <a:ext cx="2571750" cy="1483862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ADFBA-D060-4893-B381-6C0254B3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B8FF"/>
                </a:solidFill>
              </a:defRPr>
            </a:pPr>
            <a:r>
              <a:rPr sz="1125" b="1">
                <a:solidFill>
                  <a:srgbClr val="55B8FF"/>
                </a:solidFill>
              </a:rPr>
              <a:t>3  説明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fdcc1cd7a4dcf"/>
          <a:stretch xmlns:a="http://schemas.openxmlformats.org/drawingml/2006/main"/>
        </p:blipFill>
        <p:spPr>
          <a:xfrm xmlns:a="http://schemas.openxmlformats.org/drawingml/2006/main">
            <a:off x="8915400" y="2553719"/>
            <a:ext cx="2571750" cy="1483862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BB1DB-788C-4E55-A0B8-BD9547E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E3CC"/>
                </a:solidFill>
              </a:defRPr>
            </a:pPr>
            <a:r>
              <a:rPr sz="1125" b="1">
                <a:solidFill>
                  <a:srgbClr val="69E3CC"/>
                </a:solidFill>
              </a:rPr>
              <a:t>4  共有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9C600-86FB-450E-B148-7716E2F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A4AC"/>
                </a:solidFill>
              </a:defRPr>
            </a:pPr>
            <a:r>
              <a:rPr sz="1650" b="0">
                <a:solidFill>
                  <a:srgbClr val="8AA4AC"/>
                </a:solidFill>
              </a:rPr>
              <a:t>利用目的を変えると、同じ/mnt/cでも説明と優先順位が変わる。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FEFE4-D28E-400C-A3E9-6AD23FD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2BD66"/>
                </a:solidFill>
              </a:defRPr>
            </a:pPr>
            <a:r>
              <a:rPr sz="1125" b="0">
                <a:solidFill>
                  <a:srgbClr val="F2BD66"/>
                </a:solidFill>
              </a:rPr>
              <a:t>コンセプト画面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AB142-DCC2-4927-8842-116E8D5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E99CE-AFE5-4286-AC08-3B7DBB4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68C9D-98A6-4EDB-BB8C-B6DB3B91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1842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AAE92-BF31-4F46-9C81-67E82A6B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04 · /mnt/cは選択肢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709B4-7979-482E-BDCC-F41AF68F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2026.07 · ソース版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482C5-EC33-4B92-85F5-01C5CDA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7FBF6"/>
                </a:solidFill>
              </a:defRPr>
            </a:pPr>
            <a:r>
              <a:rPr sz="3225" b="1">
                <a:solidFill>
                  <a:srgbClr val="E7FBF6"/>
                </a:solidFill>
              </a:rPr>
              <a:t>/mnt/cはエラーではない。目的との不一致を説明する。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09a81078646eb"/>
          <a:stretch xmlns:a="http://schemas.openxmlformats.org/drawingml/2006/main"/>
        </p:blipFill>
        <p:spPr>
          <a:xfrm xmlns:a="http://schemas.openxmlformats.org/drawingml/2006/main">
            <a:off x="6343650" y="2156880"/>
            <a:ext cx="5334000" cy="307764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040EA-B971-4987-B731-A4C9370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FBF6"/>
                </a:solidFill>
              </a:defRPr>
            </a:pPr>
            <a:r>
              <a:rPr sz="1800" b="1">
                <a:solidFill>
                  <a:srgbClr val="E7FBF6"/>
                </a:solidFill>
              </a:rPr>
              <a:t>share-first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13ED0-ABBD-40F3-94D9-0185D201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E3CC"/>
                </a:solidFill>
              </a:defRPr>
            </a:pPr>
            <a:r>
              <a:rPr sz="975" b="1">
                <a:solidFill>
                  <a:srgbClr val="69E3CC"/>
                </a:solidFill>
              </a:rPr>
              <a:t>想定内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3F118-2582-4ECF-8795-BD037D7F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AA4AC"/>
                </a:solidFill>
              </a:defRPr>
            </a:pPr>
            <a:r>
              <a:rPr sz="1425" b="0">
                <a:solidFill>
                  <a:srgbClr val="8AA4AC"/>
                </a:solidFill>
              </a:rPr>
              <a:t>WindowsアプリやCoworkとの共有を優先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4282E-0D85-42CC-9616-43D94CF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E41F7-26DF-4FB0-A632-B1EDC80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FBF6"/>
                </a:solidFill>
              </a:defRPr>
            </a:pPr>
            <a:r>
              <a:rPr sz="1800" b="1">
                <a:solidFill>
                  <a:srgbClr val="E7FBF6"/>
                </a:solidFill>
              </a:rPr>
              <a:t>balanced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75EDB-BCB6-47D4-A1CD-3556D27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432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B8FF"/>
                </a:solidFill>
              </a:defRPr>
            </a:pPr>
            <a:r>
              <a:rPr sz="975" b="1">
                <a:solidFill>
                  <a:srgbClr val="55B8FF"/>
                </a:solidFill>
              </a:rPr>
              <a:t>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40F82-832F-42CE-B9E6-5DCD4C6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AA4AC"/>
                </a:solidFill>
              </a:defRPr>
            </a:pPr>
            <a:r>
              <a:rPr sz="1425" b="0">
                <a:solidFill>
                  <a:srgbClr val="8AA4AC"/>
                </a:solidFill>
              </a:rPr>
              <a:t>共有とLinuxツール群の両方を測定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836F8-ED23-441B-BF2E-E5EA642C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1FC13-E964-4CA7-9071-02137AA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FBF6"/>
                </a:solidFill>
              </a:defRPr>
            </a:pPr>
            <a:r>
              <a:rPr sz="1800" b="1">
                <a:solidFill>
                  <a:srgbClr val="E7FBF6"/>
                </a:solidFill>
              </a:rPr>
              <a:t>linux-first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5086F-742F-4782-8627-D3270C3F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481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D66"/>
                </a:solidFill>
              </a:defRPr>
            </a:pPr>
            <a:r>
              <a:rPr sz="975" b="1">
                <a:solidFill>
                  <a:srgbClr val="F2BD66"/>
                </a:solidFill>
              </a:rPr>
              <a:t>警告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B5AA7-7250-4639-A9C2-0B19332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AA4AC"/>
                </a:solidFill>
              </a:defRPr>
            </a:pPr>
            <a:r>
              <a:rPr sz="1425" b="0">
                <a:solidFill>
                  <a:srgbClr val="8AA4AC"/>
                </a:solidFill>
              </a:rPr>
              <a:t>Linuxネイティブの性能と動作特性を優先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46A02-BF08-4296-89B7-0A2550C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B8FF"/>
                </a:solidFill>
              </a:defRPr>
            </a:pPr>
            <a:r>
              <a:rPr sz="1500" b="0">
                <a:solidFill>
                  <a:srgbClr val="55B8FF"/>
                </a:solidFill>
              </a:rPr>
              <a:t>変更は自動実行せず、読み取り専用の次の確認だけを提案。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B5E03-19FB-4646-8F23-A350E235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D06BF-4791-4DBF-A2C3-17B480C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F4235-9BF3-46A7-814C-37D33A4E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5302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B73C9-31D8-4842-895B-4A569B0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05 · 識別情報なしで共有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505B3-D642-4CFF-9AAD-603BBD0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2026.07 · ソース版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3EDE4-0F16-4D93-B8BA-B909D91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7FBF6"/>
                </a:solidFill>
              </a:defRPr>
            </a:pPr>
            <a:r>
              <a:rPr sz="3225" b="1">
                <a:solidFill>
                  <a:srgbClr val="E7FBF6"/>
                </a:solidFill>
              </a:rPr>
              <a:t>共有用レポートは、表示前に匿名化する。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aa83ae3b34ca9"/>
          <a:srcRect xmlns:a="http://schemas.openxmlformats.org/drawingml/2006/main" l="352" t="0" r="3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14500"/>
            <a:ext cx="7048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1C49A-BAE3-460E-B166-30BD42C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E3CC"/>
                </a:solidFill>
              </a:defRPr>
            </a:pPr>
            <a:r>
              <a:rPr sz="1275" b="1">
                <a:solidFill>
                  <a:srgbClr val="69E3CC"/>
                </a:solidFill>
              </a:rPr>
              <a:t>匿名化済み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E46A8-07E4-4D55-81E7-FBC2CED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6A59-C5C3-4822-B000-A3F50A4F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FBF6"/>
                </a:solidFill>
              </a:defRPr>
            </a:pPr>
            <a:r>
              <a:rPr sz="1500" b="0">
                <a:solidFill>
                  <a:srgbClr val="E7FBF6"/>
                </a:solidFill>
              </a:rPr>
              <a:t>利用者名／ホーム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EC25A-CB4D-434C-BDEA-D1565C7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2B7A8-9359-40F3-AD0B-9C906003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FBF6"/>
                </a:solidFill>
              </a:defRPr>
            </a:pPr>
            <a:r>
              <a:rPr sz="1500" b="0">
                <a:solidFill>
                  <a:srgbClr val="E7FBF6"/>
                </a:solidFill>
              </a:rPr>
              <a:t>マシン名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85722-DE42-4EEE-96E9-821D181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E73C3-8FBC-407E-9039-BE9B5BC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194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FBF6"/>
                </a:solidFill>
              </a:defRPr>
            </a:pPr>
            <a:r>
              <a:rPr sz="1500" b="0">
                <a:solidFill>
                  <a:srgbClr val="E7FBF6"/>
                </a:solidFill>
              </a:rPr>
              <a:t>個人の絶対パス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2FC1B-04C8-4B9D-8AC6-31973091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EABC-DB54-4E9A-89BC-0D8E738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62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FBF6"/>
                </a:solidFill>
              </a:defRPr>
            </a:pPr>
            <a:r>
              <a:rPr sz="1500" b="0">
                <a:solidFill>
                  <a:srgbClr val="E7FBF6"/>
                </a:solidFill>
              </a:rPr>
              <a:t>エージェント状態の場所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B80F8-A77D-4C44-A59F-4CBE90C7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AA4AC"/>
                </a:solidFill>
              </a:defRPr>
            </a:pPr>
            <a:r>
              <a:rPr sz="1425" b="0">
                <a:solidFill>
                  <a:srgbClr val="8AA4AC"/>
                </a:solidFill>
              </a:rPr>
              <a:t>通常実行は外部送信せず、トークンや環境変数を無制限に収集しません。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F6751-DD72-4D39-9E38-3E810B0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3782B-3354-4E6A-8525-A4019EC5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F75C3-C849-45F4-A999-7F628321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4531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66EA-5D90-4610-BD69-73C2C0A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E3CC"/>
                </a:solidFill>
              </a:defRPr>
            </a:pPr>
            <a:r>
              <a:rPr sz="1050" b="1">
                <a:solidFill>
                  <a:srgbClr val="69E3CC"/>
                </a:solidFill>
              </a:rPr>
              <a:t>06 · 次へ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6AA92-1ED8-4806-AEA1-D063887E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A4AC"/>
                </a:solidFill>
              </a:defRPr>
            </a:pPr>
            <a:r>
              <a:rPr sz="900" b="0">
                <a:solidFill>
                  <a:srgbClr val="8AA4AC"/>
                </a:solidFill>
              </a:rPr>
              <a:t>プレアルファ · 配布ファイルは未公開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BF253-5ADA-476C-8385-551BA0D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7FBF6"/>
                </a:solidFill>
              </a:defRPr>
            </a:pPr>
            <a:r>
              <a:rPr sz="3525" b="1">
                <a:solidFill>
                  <a:srgbClr val="E7FBF6"/>
                </a:solidFill>
              </a:rPr>
              <a:t>今はソース版。</a:t>
            </a:r>
          </a:p>
          <a:p xmlns:a="http://schemas.openxmlformats.org/drawingml/2006/main">
            <a:pPr algn="l">
              <a:defRPr sz="3525" b="1">
                <a:solidFill>
                  <a:srgbClr val="E7FBF6"/>
                </a:solidFill>
              </a:defRPr>
            </a:pPr>
            <a:r>
              <a:rPr sz="3525" b="1">
                <a:solidFill>
                  <a:srgbClr val="E7FBF6"/>
                </a:solidFill>
              </a:rPr>
              <a:t>次は、誰でも検証できるv0.1へ。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6B126-F7C4-495D-9917-EDE6EE90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62275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24"/>
          </a:solidFill>
          <a:ln xmlns:a="http://schemas.openxmlformats.org/drawingml/2006/main" w="9525">
            <a:solidFill>
              <a:srgbClr val="2946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8CFA-7F13-4AD8-9730-8B86828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E3CC"/>
                </a:solidFill>
              </a:defRPr>
            </a:pPr>
            <a:r>
              <a:rPr sz="975" b="1">
                <a:solidFill>
                  <a:srgbClr val="69E3CC"/>
                </a:solidFill>
              </a:rPr>
              <a:t>完了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A3A15-3DE3-4F3F-AD5B-091F96F6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FBF6"/>
                </a:solidFill>
              </a:defRPr>
            </a:pPr>
            <a:r>
              <a:rPr sz="2100" b="1">
                <a:solidFill>
                  <a:srgbClr val="E7FBF6"/>
                </a:solidFill>
              </a:rPr>
              <a:t>根幹診断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82EF9-5A4F-4E76-BEAE-6CAF1DD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A4AC"/>
                </a:solidFill>
              </a:defRPr>
            </a:pPr>
            <a:r>
              <a:rPr sz="1275" b="0">
                <a:solidFill>
                  <a:srgbClr val="8AA4AC"/>
                </a:solidFill>
              </a:rPr>
              <a:t>実行環境・目的・説明・候補・匿名化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00A0C-C932-4112-B579-B6CE2A1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62275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24"/>
          </a:solidFill>
          <a:ln xmlns:a="http://schemas.openxmlformats.org/drawingml/2006/main" w="9525">
            <a:solidFill>
              <a:srgbClr val="2946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38443-5EAA-40A4-A012-CEAE8C63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62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B8FF"/>
                </a:solidFill>
              </a:defRPr>
            </a:pPr>
            <a:r>
              <a:rPr sz="975" b="1">
                <a:solidFill>
                  <a:srgbClr val="55B8FF"/>
                </a:solidFill>
              </a:rPr>
              <a:t>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EF858-182B-4233-8506-22D6699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62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FBF6"/>
                </a:solidFill>
              </a:defRPr>
            </a:pPr>
            <a:r>
              <a:rPr sz="2100" b="1">
                <a:solidFill>
                  <a:srgbClr val="E7FBF6"/>
                </a:solidFill>
              </a:rPr>
              <a:t>外部実測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E79D8-B175-4884-9760-9F72E96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14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A4AC"/>
                </a:solidFill>
              </a:defRPr>
            </a:pPr>
            <a:r>
              <a:rPr sz="1275" b="0">
                <a:solidFill>
                  <a:srgbClr val="8AA4AC"/>
                </a:solidFill>
              </a:rPr>
              <a:t>Windows・WSLの再現性と操作感を確認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D6EAA-6791-42F0-AB23-77042A96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62275"/>
            <a:ext cx="3219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24"/>
          </a:solidFill>
          <a:ln xmlns:a="http://schemas.openxmlformats.org/drawingml/2006/main" w="9525">
            <a:solidFill>
              <a:srgbClr val="2946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7E115-A574-4544-87E7-DD18C77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D66"/>
                </a:solidFill>
              </a:defRPr>
            </a:pPr>
            <a:r>
              <a:rPr sz="975" b="1">
                <a:solidFill>
                  <a:srgbClr val="F2BD66"/>
                </a:solidFill>
              </a:rPr>
              <a:t>公開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21BE8-B3B5-490D-A07E-02BA082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FBF6"/>
                </a:solidFill>
              </a:defRPr>
            </a:pPr>
            <a:r>
              <a:rPr sz="2100" b="1">
                <a:solidFill>
                  <a:srgbClr val="E7FBF6"/>
                </a:solidFill>
              </a:rPr>
              <a:t>v0.1.0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92645-AF39-47AE-AF61-216B3CC2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A4AC"/>
                </a:solidFill>
              </a:defRPr>
            </a:pPr>
            <a:r>
              <a:rPr sz="1275" b="0">
                <a:solidFill>
                  <a:srgbClr val="8AA4AC"/>
                </a:solidFill>
              </a:rPr>
              <a:t>Windows／Linux版＋チェックサム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79706-C5C4-4386-BBF5-1A0D4DEE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FBF6"/>
                </a:solidFill>
              </a:defRPr>
            </a:pPr>
            <a:r>
              <a:rPr sz="1650" b="0">
                <a:solidFill>
                  <a:srgbClr val="E7FBF6"/>
                </a:solidFill>
              </a:rPr>
              <a:t>困った経験・使っている確認コマンド・プロトタイプの違和感をIssueへ。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A8935-66BE-4D0F-B81E-0CCABF3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E3CC"/>
                </a:solidFill>
              </a:defRPr>
            </a:pPr>
            <a:r>
              <a:rPr sz="1800" b="1">
                <a:solidFill>
                  <a:srgbClr val="69E3CC"/>
                </a:solidFill>
              </a:rPr>
              <a:t>github.com/Tanasu0417/execlocus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A5011-A8F4-41D4-825B-2173C948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B8FF"/>
                </a:solidFill>
              </a:defRPr>
            </a:pPr>
            <a:r>
              <a:rPr sz="1350" b="0">
                <a:solidFill>
                  <a:srgbClr val="55B8FF"/>
                </a:solidFill>
              </a:rPr>
              <a:t>スター／Watch／検証報告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3BC92-4886-41C7-95A5-7EBB7FF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4169F-CEC4-4270-AEB5-4994665A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github.com/Tanasu0417/execlocus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1AB67-F3A8-4BC1-8010-8952C59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00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A4AC"/>
                </a:solidFill>
              </a:defRPr>
            </a:pPr>
            <a:r>
              <a:rPr sz="825" b="0">
                <a:solidFill>
                  <a:srgbClr val="8AA4A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0526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2026-07-29T13:17:35.2520000Z</dcterms:created>
  <dcterms:modified xsi:type="dcterms:W3CDTF">2026-07-29T13:17:35.2530000Z</dcterms:modified>
</coreProperties>
</file>