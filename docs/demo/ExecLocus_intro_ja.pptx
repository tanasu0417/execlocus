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705c0df82142c8" /><Relationship Type="http://schemas.openxmlformats.org/officeDocument/2006/relationships/extended-properties" Target="/docProps/app.xml" Id="R057f302fd9854fac" /><Relationship Type="http://schemas.openxmlformats.org/officeDocument/2006/relationships/officeDocument" Target="/ppt/presentation.xml" Id="Re91771968e3f49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c3b374641a49ed"/>
  </p:sldMasterIdLst>
  <p:notesMasterIdLst>
    <p:notesMasterId xmlns:r="http://schemas.openxmlformats.org/officeDocument/2006/relationships" r:id="R65fc9b072f744d8b"/>
  </p:notesMasterIdLst>
  <p:sldIdLst>
    <p:sldId xmlns:r="http://schemas.openxmlformats.org/officeDocument/2006/relationships" id="256" r:id="R10582b3634d64f84"/>
    <p:sldId xmlns:r="http://schemas.openxmlformats.org/officeDocument/2006/relationships" id="257" r:id="Rf80099a4671e4a5f"/>
    <p:sldId xmlns:r="http://schemas.openxmlformats.org/officeDocument/2006/relationships" id="258" r:id="Rf1454e5b9ff441c3"/>
    <p:sldId xmlns:r="http://schemas.openxmlformats.org/officeDocument/2006/relationships" id="259" r:id="R734d7be321644adf"/>
    <p:sldId xmlns:r="http://schemas.openxmlformats.org/officeDocument/2006/relationships" id="260" r:id="R8121148f2a2245e5"/>
    <p:sldId xmlns:r="http://schemas.openxmlformats.org/officeDocument/2006/relationships" id="261" r:id="Rabf1559796954bce"/>
    <p:sldId xmlns:r="http://schemas.openxmlformats.org/officeDocument/2006/relationships" id="262" r:id="R468ebe803cd4438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102f8afebc4502" /><Relationship Type="http://schemas.openxmlformats.org/officeDocument/2006/relationships/slideMaster" Target="/ppt/slideMasters/slideMaster1.xml" Id="Rbac3b374641a49ed" /><Relationship Type="http://schemas.openxmlformats.org/officeDocument/2006/relationships/notesMaster" Target="/ppt/notesMasters/notesMaster1.xml" Id="R65fc9b072f744d8b" /><Relationship Type="http://schemas.openxmlformats.org/officeDocument/2006/relationships/presProps" Target="/ppt/presProps.xml" Id="Ra1f505ed5c094e24" /><Relationship Type="http://schemas.openxmlformats.org/officeDocument/2006/relationships/tableStyles" Target="/ppt/tableStyles.xml" Id="R64b3e8a850b84eae" /><Relationship Type="http://schemas.openxmlformats.org/officeDocument/2006/relationships/slide" Target="/ppt/slides/slide1.xml" Id="R10582b3634d64f84" /><Relationship Type="http://schemas.openxmlformats.org/officeDocument/2006/relationships/slide" Target="/ppt/slides/slide2.xml" Id="Rf80099a4671e4a5f" /><Relationship Type="http://schemas.openxmlformats.org/officeDocument/2006/relationships/slide" Target="/ppt/slides/slide3.xml" Id="Rf1454e5b9ff441c3" /><Relationship Type="http://schemas.openxmlformats.org/officeDocument/2006/relationships/slide" Target="/ppt/slides/slide4.xml" Id="R734d7be321644adf" /><Relationship Type="http://schemas.openxmlformats.org/officeDocument/2006/relationships/slide" Target="/ppt/slides/slide5.xml" Id="R8121148f2a2245e5" /><Relationship Type="http://schemas.openxmlformats.org/officeDocument/2006/relationships/slide" Target="/ppt/slides/slide6.xml" Id="Rabf1559796954bce" /><Relationship Type="http://schemas.openxmlformats.org/officeDocument/2006/relationships/slide" Target="/ppt/slides/slide7.xml" Id="R468ebe803cd443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af8d2f709049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e3ba8290ea4c9f" /><Relationship Type="http://schemas.openxmlformats.org/officeDocument/2006/relationships/notesMaster" Target="/ppt/notesMasters/notesMaster1.xml" Id="Re6d04b53d4d547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83535c6a8940b7" /><Relationship Type="http://schemas.openxmlformats.org/officeDocument/2006/relationships/notesMaster" Target="/ppt/notesMasters/notesMaster1.xml" Id="Re9cd5724fc7440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ae7cae1b534d4f" /><Relationship Type="http://schemas.openxmlformats.org/officeDocument/2006/relationships/notesMaster" Target="/ppt/notesMasters/notesMaster1.xml" Id="Ra5468cb770784e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155ed14c1a4c7a" /><Relationship Type="http://schemas.openxmlformats.org/officeDocument/2006/relationships/notesMaster" Target="/ppt/notesMasters/notesMaster1.xml" Id="R81bbf757afaf49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8e8b44cad342e4" /><Relationship Type="http://schemas.openxmlformats.org/officeDocument/2006/relationships/notesMaster" Target="/ppt/notesMasters/notesMaster1.xml" Id="R48cbafe9906a42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52a7aea41145ae" /><Relationship Type="http://schemas.openxmlformats.org/officeDocument/2006/relationships/notesMaster" Target="/ppt/notesMasters/notesMaster1.xml" Id="Rae266981bc1843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3d4496d623490c" /><Relationship Type="http://schemas.openxmlformats.org/officeDocument/2006/relationships/notesMaster" Target="/ppt/notesMasters/notesMaster1.xml" Id="Re049848ad89348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https://github.com/Tanasu0417/execlocus/blob/main/docs/ONE_PAGER.ja.md</a:t>
            </a:r>
          </a:p>
          <a:p xmlns:a="http://schemas.openxmlformats.org/drawingml/2006/main">
            <a:r>
              <a:t>- https://github.com/Tanasu0417/execlocus/tree/main/docs/demo/prototype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https://github.com/Tanasu0417/execlocus/blob/main/docs/demo/RECORDING_SCENARIO.md</a:t>
            </a:r>
          </a:p>
          <a:p xmlns:a="http://schemas.openxmlformats.org/drawingml/2006/main">
            <a:r>
              <a:t>- https://github.com/Tanasu0417/execlocus/blob/main/docs/SUPPORT_MATRIX.md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https://github.com/Tanasu0417/execlocus/blob/main/docs/ONE_PAGER.ja.md</a:t>
            </a:r>
          </a:p>
          <a:p xmlns:a="http://schemas.openxmlformats.org/drawingml/2006/main">
            <a:r>
              <a:t>- https://github.com/Tanasu0417/execlocus/blob/main/docs/SUPPORT_MATRIX.md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https://github.com/Tanasu0417/execlocus/tree/main/docs/demo/prototype</a:t>
            </a:r>
          </a:p>
          <a:p xmlns:a="http://schemas.openxmlformats.org/drawingml/2006/main">
            <a:r>
              <a:t>- https://github.com/Tanasu0417/execlocus/blob/main/docs/demo/OTTER_GUIDE_SPEC.md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https://github.com/Tanasu0417/execlocus/blob/main/docs/USE_CASES.md</a:t>
            </a:r>
          </a:p>
          <a:p xmlns:a="http://schemas.openxmlformats.org/drawingml/2006/main">
            <a:r>
              <a:t>- https://github.com/Tanasu0417/execlocus/blob/main/src/rules.rs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https://github.com/Tanasu0417/execlocus/blob/main/docs/SECURITY_MODEL.md</a:t>
            </a:r>
          </a:p>
          <a:p xmlns:a="http://schemas.openxmlformats.org/drawingml/2006/main">
            <a:r>
              <a:t>- https://github.com/Tanasu0417/execlocus/blob/main/src/privacy.rs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https://github.com/Tanasu0417/execlocus/blob/main/docs/V0_1_ROADMAP.md</a:t>
            </a:r>
          </a:p>
          <a:p xmlns:a="http://schemas.openxmlformats.org/drawingml/2006/main">
            <a:r>
              <a:t>- https://github.com/Tanasu0417/execlocus/issues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999c95a611406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05e1f6cf064c0c" /><Relationship Type="http://schemas.openxmlformats.org/officeDocument/2006/relationships/slideLayout" Target="/ppt/slideLayouts/slideLayout1.xml" Id="Rc0cbd01a22194d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cbd01a22194d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c2edebc39466b" /><Relationship Type="http://schemas.openxmlformats.org/officeDocument/2006/relationships/image" Target="/ppt/media/image.jpeg" Id="R32646ef5fc2f4dba" /><Relationship Type="http://schemas.openxmlformats.org/officeDocument/2006/relationships/notesSlide" Target="/ppt/notesSlides/notesSlide1.xml" Id="R8399dbbe710b4f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66809b03b4c52" /><Relationship Type="http://schemas.openxmlformats.org/officeDocument/2006/relationships/image" Target="/ppt/media/image2.jpeg" Id="R92d2f6e640824ea0" /><Relationship Type="http://schemas.openxmlformats.org/officeDocument/2006/relationships/notesSlide" Target="/ppt/notesSlides/notesSlide2.xml" Id="Rd489394e894046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58cf2915644c1" /><Relationship Type="http://schemas.openxmlformats.org/officeDocument/2006/relationships/notesSlide" Target="/ppt/notesSlides/notesSlide3.xml" Id="R8cb5fce75ba343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e7a53492a4a92" /><Relationship Type="http://schemas.openxmlformats.org/officeDocument/2006/relationships/image" Target="/ppt/media/image3.jpeg" Id="R52506ddb650f4cfe" /><Relationship Type="http://schemas.openxmlformats.org/officeDocument/2006/relationships/image" Target="/ppt/media/image4.jpeg" Id="R9124a51af47446ec" /><Relationship Type="http://schemas.openxmlformats.org/officeDocument/2006/relationships/image" Target="/ppt/media/image5.jpeg" Id="R53ffa55868ce4d95" /><Relationship Type="http://schemas.openxmlformats.org/officeDocument/2006/relationships/image" Target="/ppt/media/image6.jpeg" Id="Rccd29db9be1a4bbf" /><Relationship Type="http://schemas.openxmlformats.org/officeDocument/2006/relationships/notesSlide" Target="/ppt/notesSlides/notesSlide4.xml" Id="Rf44057ce107748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38f8d58a94cf3" /><Relationship Type="http://schemas.openxmlformats.org/officeDocument/2006/relationships/image" Target="/ppt/media/image7.jpeg" Id="R0096d3a585a74a21" /><Relationship Type="http://schemas.openxmlformats.org/officeDocument/2006/relationships/notesSlide" Target="/ppt/notesSlides/notesSlide5.xml" Id="R1463084e61f54f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5e4e45c984307" /><Relationship Type="http://schemas.openxmlformats.org/officeDocument/2006/relationships/image" Target="/ppt/media/image8.jpeg" Id="R6a5e0b704a4d4f3c" /><Relationship Type="http://schemas.openxmlformats.org/officeDocument/2006/relationships/notesSlide" Target="/ppt/notesSlides/notesSlide6.xml" Id="R145cb296cf4543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3e3e5a8ee4d25" /><Relationship Type="http://schemas.openxmlformats.org/officeDocument/2006/relationships/notesSlide" Target="/ppt/notesSlides/notesSlide7.xml" Id="R3d4cffa22a5a42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69C68-589B-415A-B62F-CE27015B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971550"/>
            <a:ext cx="6019800" cy="3676650"/>
          </a:xfrm>
          <a:prstGeom xmlns:a="http://schemas.openxmlformats.org/drawingml/2006/main" prst="roundRect">
            <a:avLst>
              <a:gd name="adj" fmla="val 3109"/>
            </a:avLst>
          </a:prstGeom>
          <a:solidFill xmlns:a="http://schemas.openxmlformats.org/drawingml/2006/main">
            <a:srgbClr val="0D1D24"/>
          </a:solidFill>
          <a:ln xmlns:a="http://schemas.openxmlformats.org/drawingml/2006/main" w="9525">
            <a:solidFill>
              <a:srgbClr val="294650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46ef5fc2f4dba"/>
          <a:stretch xmlns:a="http://schemas.openxmlformats.org/drawingml/2006/main"/>
        </p:blipFill>
        <p:spPr>
          <a:xfrm xmlns:a="http://schemas.openxmlformats.org/drawingml/2006/main">
            <a:off x="5772150" y="1139156"/>
            <a:ext cx="5791200" cy="3341438"/>
          </a:xfrm>
          <a:prstGeom xmlns:a="http://schemas.openxmlformats.org/drawingml/2006/main" prst="roundRect">
            <a:avLst>
              <a:gd name="adj" fmla="val 3315"/>
            </a:avLst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F5C337-603D-4A8C-AB5C-04D9102B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34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E3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EF9D9-9009-407E-814B-0B29BE96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E7FBF6"/>
                </a:solidFill>
              </a:defRPr>
            </a:pPr>
            <a:r>
              <a:rPr sz="5400" b="1">
                <a:solidFill>
                  <a:srgbClr val="E7FBF6"/>
                </a:solidFill>
              </a:rPr>
              <a:t>ExecLocus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557E7D-A40E-4F14-9E9B-392AD4F3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33575"/>
            <a:ext cx="4572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E7FBF6"/>
                </a:solidFill>
              </a:defRPr>
            </a:pPr>
            <a:r>
              <a:rPr sz="3450" b="1">
                <a:solidFill>
                  <a:srgbClr val="E7FBF6"/>
                </a:solidFill>
              </a:rPr>
              <a:t>Windows × WSLの境界を、</a:t>
            </a:r>
          </a:p>
          <a:p xmlns:a="http://schemas.openxmlformats.org/drawingml/2006/main">
            <a:pPr algn="l">
              <a:defRPr sz="3450" b="1">
                <a:solidFill>
                  <a:srgbClr val="E7FBF6"/>
                </a:solidFill>
              </a:defRPr>
            </a:pPr>
            <a:r>
              <a:rPr sz="3450" b="1">
                <a:solidFill>
                  <a:srgbClr val="E7FBF6"/>
                </a:solidFill>
              </a:rPr>
              <a:t>証拠付きで。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BE8A7A-F7E8-4A16-B080-D5589BDA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48075"/>
            <a:ext cx="4238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8AA4AC"/>
                </a:solidFill>
              </a:defRPr>
            </a:pPr>
            <a:r>
              <a:rPr sz="1800" b="0">
                <a:solidFill>
                  <a:srgbClr val="8AA4AC"/>
                </a:solidFill>
              </a:rPr>
              <a:t>AIコーディングエージェントの実行環境、候補、</a:t>
            </a:r>
          </a:p>
          <a:p xmlns:a="http://schemas.openxmlformats.org/drawingml/2006/main">
            <a:pPr algn="l">
              <a:defRPr sz="1800" b="0">
                <a:solidFill>
                  <a:srgbClr val="8AA4AC"/>
                </a:solidFill>
              </a:defRPr>
            </a:pPr>
            <a:r>
              <a:rPr sz="1800" b="0">
                <a:solidFill>
                  <a:srgbClr val="8AA4AC"/>
                </a:solidFill>
              </a:rPr>
              <a:t>ファイル配置の意図を1回の診断へ。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26695E-118E-4092-987A-2AE96C50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863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9E3CC"/>
                </a:solidFill>
              </a:defRPr>
            </a:pPr>
            <a:r>
              <a:rPr sz="1050" b="0">
                <a:solidFill>
                  <a:srgbClr val="69E3CC"/>
                </a:solidFill>
              </a:rPr>
              <a:t>ローカルのみ  ·  読み取り専用  ·  送信なし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3CE1A-CEA7-4573-B474-C3DA3F33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626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AA4AC"/>
                </a:solidFill>
              </a:defRPr>
            </a:pPr>
            <a:r>
              <a:rPr sz="1050" b="0">
                <a:solidFill>
                  <a:srgbClr val="8AA4AC"/>
                </a:solidFill>
              </a:rPr>
              <a:t>v0.1 ソース版</a:t>
            </a:r>
          </a:p>
        </p:txBody>
      </p:sp>
    </p:spTree>
    <p:extLst>
      <p:ext uri="{BB962C8B-B14F-4D97-AF65-F5344CB8AC3E}">
        <p14:creationId xmlns:p14="http://schemas.microsoft.com/office/powerpoint/2010/main" val="1299386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8E3BD-FD3F-4F41-A8A3-167878352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01 · 背景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FB69B4-F2CC-4BCB-8B6C-7C908D6A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2026.07 · ソース版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3260A-D3FC-4A51-984E-75D80A64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E7FBF6"/>
                </a:solidFill>
              </a:defRPr>
            </a:pPr>
            <a:r>
              <a:rPr sz="3225" b="1">
                <a:solidFill>
                  <a:srgbClr val="E7FBF6"/>
                </a:solidFill>
              </a:rPr>
              <a:t>同じプロジェクトでも、選ばれるNodeは同じとは限らない。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3EB6A-F3A6-46D5-BE57-FE605392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A4AC"/>
                </a:solidFill>
              </a:defRPr>
            </a:pPr>
            <a:r>
              <a:rPr sz="1500" b="0">
                <a:solidFill>
                  <a:srgbClr val="8AA4AC"/>
                </a:solidFill>
              </a:rPr>
              <a:t>WindowsとWSLは別の実行環境。同じソース一式でも、シェルの規則と実行形式は分かれます。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d2f6e640824ea0"/>
          <a:srcRect xmlns:a="http://schemas.openxmlformats.org/drawingml/2006/main" l="0" t="17467" r="0" b="174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2000250"/>
            <a:ext cx="11163300" cy="4191000"/>
          </a:xfrm>
          <a:prstGeom xmlns:a="http://schemas.openxmlformats.org/drawingml/2006/main" prst="roundRect">
            <a:avLst>
              <a:gd name="adj" fmla="val 272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1BB3A-F091-4DD6-84C7-B423020E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0645B2-5864-44DD-A76C-1B1C5B6B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AD2AF8-F74F-4674-9D86-22B9A21A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267071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EC9755-740F-4ADA-814E-9511A165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02 · 分かること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887D6-2CD6-4D26-B96B-A6454EC0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2026.07 · ソース版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B3FE5-868F-41F1-AE37-D3A13D4F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75" b="1">
                <a:solidFill>
                  <a:srgbClr val="E7FBF6"/>
                </a:solidFill>
              </a:defRPr>
            </a:pPr>
            <a:r>
              <a:rPr sz="3075" b="1">
                <a:solidFill>
                  <a:srgbClr val="E7FBF6"/>
                </a:solidFill>
              </a:rPr>
              <a:t>手作業で分かれていた3つの確認を、同じ根拠モデルへ。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1F7BAE-47BD-4225-9B06-9BE44CC0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809750"/>
            <a:ext cx="1905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573A77-8B02-4681-9EB6-8F961B11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810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0262D"/>
          </a:solidFill>
          <a:ln xmlns:a="http://schemas.openxmlformats.org/drawingml/2006/main" w="9525">
            <a:solidFill>
              <a:srgbClr val="69E3C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1393EB-59E1-4603-A40B-FDC4C827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7642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9E3CC"/>
                </a:solidFill>
              </a:defRPr>
            </a:pPr>
            <a:r>
              <a:rPr sz="1125" b="1">
                <a:solidFill>
                  <a:srgbClr val="69E3CC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AA1849-3C0C-4F0B-B146-5D80E5A1D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68592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7FBF6"/>
                </a:solidFill>
              </a:defRPr>
            </a:pPr>
            <a:r>
              <a:rPr sz="2250" b="1">
                <a:solidFill>
                  <a:srgbClr val="E7FBF6"/>
                </a:solidFill>
              </a:rPr>
              <a:t>どこで動いている？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DCAB4-8597-468E-871F-364AB3B4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95450"/>
            <a:ext cx="571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A4AC"/>
                </a:solidFill>
              </a:defRPr>
            </a:pPr>
            <a:r>
              <a:rPr sz="1500" b="0">
                <a:solidFill>
                  <a:srgbClr val="8AA4AC"/>
                </a:solidFill>
              </a:rPr>
              <a:t>Windows／WSL、ディストリビューション、利用者、シェル、エージェントの根拠を分離。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8F4EF6-C2BE-4C74-AF1C-E1B774A2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3810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0262D"/>
          </a:solidFill>
          <a:ln xmlns:a="http://schemas.openxmlformats.org/drawingml/2006/main" w="9525">
            <a:solidFill>
              <a:srgbClr val="69E3C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D04AC7-817B-4D00-BEA0-CD7ACFBC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7182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9E3CC"/>
                </a:solidFill>
              </a:defRPr>
            </a:pPr>
            <a:r>
              <a:rPr sz="1125" b="1">
                <a:solidFill>
                  <a:srgbClr val="69E3CC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AA243-9B0D-4187-86E8-794E9E4E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98132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7FBF6"/>
                </a:solidFill>
              </a:defRPr>
            </a:pPr>
            <a:r>
              <a:rPr sz="2250" b="1">
                <a:solidFill>
                  <a:srgbClr val="E7FBF6"/>
                </a:solidFill>
              </a:rPr>
              <a:t>何が選ばれる？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3AFB6F-F9D9-4BD3-8EF9-3E1E1041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990850"/>
            <a:ext cx="571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A4AC"/>
                </a:solidFill>
              </a:defRPr>
            </a:pPr>
            <a:r>
              <a:rPr sz="1500" b="0">
                <a:solidFill>
                  <a:srgbClr val="8AA4AC"/>
                </a:solidFill>
              </a:rPr>
              <a:t>選択候補、不採用候補、実行形式、シェル規則の根拠を表示。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CF1587-BDC0-4417-957C-71D34476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3810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0262D"/>
          </a:solidFill>
          <a:ln xmlns:a="http://schemas.openxmlformats.org/drawingml/2006/main" w="9525">
            <a:solidFill>
              <a:srgbClr val="69E3C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F04883-06FC-4085-B56D-C49DA00B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67225"/>
            <a:ext cx="30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9E3CC"/>
                </a:solidFill>
              </a:defRPr>
            </a:pPr>
            <a:r>
              <a:rPr sz="1125" b="1">
                <a:solidFill>
                  <a:srgbClr val="69E3CC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2CD964-1066-46A4-84A0-43F2B85C9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27672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7FBF6"/>
                </a:solidFill>
              </a:defRPr>
            </a:pPr>
            <a:r>
              <a:rPr sz="2250" b="1">
                <a:solidFill>
                  <a:srgbClr val="E7FBF6"/>
                </a:solidFill>
              </a:rPr>
              <a:t>その配置は意図どおり？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39FA4-00A6-48BD-BFDE-EEF15E51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286250"/>
            <a:ext cx="571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AA4AC"/>
                </a:solidFill>
              </a:defRPr>
            </a:pPr>
            <a:r>
              <a:rPr sz="1500" b="0">
                <a:solidFill>
                  <a:srgbClr val="8AA4AC"/>
                </a:solidFill>
              </a:rPr>
              <a:t>/mnt/cを一律否定せず、3つの利用目的で判断。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0D6BBA-3730-4139-807E-E16A0434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743575"/>
            <a:ext cx="981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B8FF"/>
                </a:solidFill>
              </a:defRPr>
            </a:pPr>
            <a:r>
              <a:rPr sz="1350" b="0">
                <a:solidFill>
                  <a:srgbClr val="55B8FF"/>
                </a:solidFill>
              </a:rPr>
              <a:t>観測できないものは推測で埋めず、「取得不可」または「推定」として残します。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072A34-D914-4416-B4F3-F2B5A944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E52EF0-FDAC-44EC-A95B-FB33507A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97402B-26CB-41EC-B656-9043BBE5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675353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6BF784-F4F3-44AF-8F35-2B956CCA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03 · 操作の流れ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1C47B6-8143-440E-96BB-75ED853B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2026.07 · ソース版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0874B1-C6E3-47BF-9C0D-D761724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E7FBF6"/>
                </a:solidFill>
              </a:defRPr>
            </a:pPr>
            <a:r>
              <a:rPr sz="3225" b="1">
                <a:solidFill>
                  <a:srgbClr val="E7FBF6"/>
                </a:solidFill>
              </a:rPr>
              <a:t>1つのコマンドから、比較・説明・安全な共有まで。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506ddb650f4cfe"/>
          <a:stretch xmlns:a="http://schemas.openxmlformats.org/drawingml/2006/main"/>
        </p:blipFill>
        <p:spPr>
          <a:xfrm xmlns:a="http://schemas.openxmlformats.org/drawingml/2006/main">
            <a:off x="514350" y="2553719"/>
            <a:ext cx="2571750" cy="1483862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C6875E-BFFA-4BFC-8637-299443BA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B8FF"/>
                </a:solidFill>
              </a:defRPr>
            </a:pPr>
            <a:r>
              <a:rPr sz="1125" b="1">
                <a:solidFill>
                  <a:srgbClr val="55B8FF"/>
                </a:solidFill>
              </a:rPr>
              <a:t>1  診断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4a51af47446ec"/>
          <a:stretch xmlns:a="http://schemas.openxmlformats.org/drawingml/2006/main"/>
        </p:blipFill>
        <p:spPr>
          <a:xfrm xmlns:a="http://schemas.openxmlformats.org/drawingml/2006/main">
            <a:off x="3314700" y="2553719"/>
            <a:ext cx="2571750" cy="1483862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5687BC-1FEE-405C-A270-125F7C1B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953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B8FF"/>
                </a:solidFill>
              </a:defRPr>
            </a:pPr>
            <a:r>
              <a:rPr sz="1125" b="1">
                <a:solidFill>
                  <a:srgbClr val="55B8FF"/>
                </a:solidFill>
              </a:rPr>
              <a:t>2  比較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fa55868ce4d95"/>
          <a:stretch xmlns:a="http://schemas.openxmlformats.org/drawingml/2006/main"/>
        </p:blipFill>
        <p:spPr>
          <a:xfrm xmlns:a="http://schemas.openxmlformats.org/drawingml/2006/main">
            <a:off x="6115050" y="2553719"/>
            <a:ext cx="2571750" cy="1483862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C37CE2-A5A2-4615-8366-E60DD1AE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53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B8FF"/>
                </a:solidFill>
              </a:defRPr>
            </a:pPr>
            <a:r>
              <a:rPr sz="1125" b="1">
                <a:solidFill>
                  <a:srgbClr val="55B8FF"/>
                </a:solidFill>
              </a:rPr>
              <a:t>3  説明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d29db9be1a4bbf"/>
          <a:stretch xmlns:a="http://schemas.openxmlformats.org/drawingml/2006/main"/>
        </p:blipFill>
        <p:spPr>
          <a:xfrm xmlns:a="http://schemas.openxmlformats.org/drawingml/2006/main">
            <a:off x="8915400" y="2553719"/>
            <a:ext cx="2571750" cy="1483862"/>
          </a:xfrm>
          <a:prstGeom xmlns:a="http://schemas.openxmlformats.org/drawingml/2006/main" prst="roundRect">
            <a:avLst>
              <a:gd name="adj" fmla="val 4444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C28D9-A5F5-4AFF-A5DB-FE3BBE19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530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9E3CC"/>
                </a:solidFill>
              </a:defRPr>
            </a:pPr>
            <a:r>
              <a:rPr sz="1125" b="1">
                <a:solidFill>
                  <a:srgbClr val="69E3CC"/>
                </a:solidFill>
              </a:rPr>
              <a:t>4  共有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A12A94-EB22-4720-8A4B-79509439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8AA4AC"/>
                </a:solidFill>
              </a:defRPr>
            </a:pPr>
            <a:r>
              <a:rPr sz="1650" b="0">
                <a:solidFill>
                  <a:srgbClr val="8AA4AC"/>
                </a:solidFill>
              </a:rPr>
              <a:t>利用目的を変えると、同じ/mnt/cでも説明と優先順位が変わる。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743B9D-B679-434B-AFA2-517B17D7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60070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F2BD66"/>
                </a:solidFill>
              </a:defRPr>
            </a:pPr>
            <a:r>
              <a:rPr sz="1125" b="0">
                <a:solidFill>
                  <a:srgbClr val="F2BD66"/>
                </a:solidFill>
              </a:rPr>
              <a:t>コンセプト画面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14A1B-A3E4-42EC-845D-788BCA72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2FA109-C5CD-46D5-8BBB-5CC37AF2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D32212-210C-4116-993A-9CC07D82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16789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BFCD2-8F95-41A4-9EFE-3BB906C1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04 · /mnt/cは選択肢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14190-91A8-4B1C-925C-132360C3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2026.07 · ソース版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BC65C-E3CF-402F-9B5D-78B212E1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990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E7FBF6"/>
                </a:solidFill>
              </a:defRPr>
            </a:pPr>
            <a:r>
              <a:rPr sz="3225" b="1">
                <a:solidFill>
                  <a:srgbClr val="E7FBF6"/>
                </a:solidFill>
              </a:rPr>
              <a:t>/mnt/cはエラーではない。目的との不一致を説明する。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6d3a585a74a21"/>
          <a:stretch xmlns:a="http://schemas.openxmlformats.org/drawingml/2006/main"/>
        </p:blipFill>
        <p:spPr>
          <a:xfrm xmlns:a="http://schemas.openxmlformats.org/drawingml/2006/main">
            <a:off x="6343650" y="2156880"/>
            <a:ext cx="5334000" cy="307764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194CCA-C42E-4FCA-AFF9-C6063AE6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192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7FBF6"/>
                </a:solidFill>
              </a:defRPr>
            </a:pPr>
            <a:r>
              <a:rPr sz="1800" b="1">
                <a:solidFill>
                  <a:srgbClr val="E7FBF6"/>
                </a:solidFill>
              </a:rPr>
              <a:t>share-first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6D8BF-F79A-4D62-9ADA-3F0F90C9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83832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9E3CC"/>
                </a:solidFill>
              </a:defRPr>
            </a:pPr>
            <a:r>
              <a:rPr sz="975" b="1">
                <a:solidFill>
                  <a:srgbClr val="69E3CC"/>
                </a:solidFill>
              </a:rPr>
              <a:t>想定内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8EB336-9547-4169-AA85-FA2A3CEB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4953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AA4AC"/>
                </a:solidFill>
              </a:defRPr>
            </a:pPr>
            <a:r>
              <a:rPr sz="1425" b="0">
                <a:solidFill>
                  <a:srgbClr val="8AA4AC"/>
                </a:solidFill>
              </a:rPr>
              <a:t>WindowsアプリやCoworkとの共有を優先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E73584-0410-4094-8F22-DE013E72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432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69E8F-0C92-4A0E-885D-FACDE491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241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7FBF6"/>
                </a:solidFill>
              </a:defRPr>
            </a:pPr>
            <a:r>
              <a:rPr sz="1800" b="1">
                <a:solidFill>
                  <a:srgbClr val="E7FBF6"/>
                </a:solidFill>
              </a:rPr>
              <a:t>balanced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F13F8-EE5D-4AC6-BF70-9BA30E83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4322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B8FF"/>
                </a:solidFill>
              </a:defRPr>
            </a:pPr>
            <a:r>
              <a:rPr sz="975" b="1">
                <a:solidFill>
                  <a:srgbClr val="55B8FF"/>
                </a:solidFill>
              </a:rPr>
              <a:t>情報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4699F-E7BC-4DF9-AA88-56AD914C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52800"/>
            <a:ext cx="4953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AA4AC"/>
                </a:solidFill>
              </a:defRPr>
            </a:pPr>
            <a:r>
              <a:rPr sz="1425" b="0">
                <a:solidFill>
                  <a:srgbClr val="8AA4AC"/>
                </a:solidFill>
              </a:rPr>
              <a:t>共有とLinuxツール群の両方を測定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643E91-B2D3-4542-8D6F-73EAA7E9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DB38ED-5299-4133-9E79-5A562940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29075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7FBF6"/>
                </a:solidFill>
              </a:defRPr>
            </a:pPr>
            <a:r>
              <a:rPr sz="1800" b="1">
                <a:solidFill>
                  <a:srgbClr val="E7FBF6"/>
                </a:solidFill>
              </a:rPr>
              <a:t>linux-first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E9B769-849A-41D2-9FCE-2ED6A7B0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4812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BD66"/>
                </a:solidFill>
              </a:defRPr>
            </a:pPr>
            <a:r>
              <a:rPr sz="975" b="1">
                <a:solidFill>
                  <a:srgbClr val="F2BD66"/>
                </a:solidFill>
              </a:rPr>
              <a:t>警告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3B5814-0E7C-4DC8-A7BA-F0D5C56B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57700"/>
            <a:ext cx="4953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AA4AC"/>
                </a:solidFill>
              </a:defRPr>
            </a:pPr>
            <a:r>
              <a:rPr sz="1425" b="0">
                <a:solidFill>
                  <a:srgbClr val="8AA4AC"/>
                </a:solidFill>
              </a:rPr>
              <a:t>Linuxネイティブの性能と動作特性を優先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4782D7-7E6F-45AD-8061-73451989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1020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B8FF"/>
                </a:solidFill>
              </a:defRPr>
            </a:pPr>
            <a:r>
              <a:rPr sz="1500" b="0">
                <a:solidFill>
                  <a:srgbClr val="55B8FF"/>
                </a:solidFill>
              </a:rPr>
              <a:t>変更は自動実行せず、読み取り専用の次の確認だけを提案。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FDA1DF-0F9A-4C20-A26B-EDF93A7D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727462-5D46-4FA4-BD31-2111871B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5E1768-22E2-4CB1-B879-97CC57D9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64193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3A03A4-1CA4-41EA-BC7E-41105293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05 · 識別情報なしで共有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E18FE-E854-4B1A-8B1E-1CBBA4A5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2026.07 · ソース版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67A1BE-EB87-4D20-A4A2-E686A43F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E7FBF6"/>
                </a:solidFill>
              </a:defRPr>
            </a:pPr>
            <a:r>
              <a:rPr sz="3225" b="1">
                <a:solidFill>
                  <a:srgbClr val="E7FBF6"/>
                </a:solidFill>
              </a:rPr>
              <a:t>共有用レポートは、表示前に匿名化する。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e0b704a4d4f3c"/>
          <a:srcRect xmlns:a="http://schemas.openxmlformats.org/drawingml/2006/main" l="352" t="0" r="35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714500"/>
            <a:ext cx="7048500" cy="4095750"/>
          </a:xfrm>
          <a:prstGeom xmlns:a="http://schemas.openxmlformats.org/drawingml/2006/main" prst="roundRect">
            <a:avLst>
              <a:gd name="adj" fmla="val 27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13C99-EC46-4611-AE3B-F8030672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669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9E3CC"/>
                </a:solidFill>
              </a:defRPr>
            </a:pPr>
            <a:r>
              <a:rPr sz="1275" b="1">
                <a:solidFill>
                  <a:srgbClr val="69E3CC"/>
                </a:solidFill>
              </a:rPr>
              <a:t>匿名化済み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31175-6963-490F-99BF-812270E4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28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E3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3C5336-DC0D-4D89-8E26-ECBC5847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3336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7FBF6"/>
                </a:solidFill>
              </a:defRPr>
            </a:pPr>
            <a:r>
              <a:rPr sz="1500" b="0">
                <a:solidFill>
                  <a:srgbClr val="E7FBF6"/>
                </a:solidFill>
              </a:rPr>
              <a:t>利用者名／ホーム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CDB1B9-3CB9-4A64-8EFE-974D6A5B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71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E3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922D0-9B27-41C0-88D3-A7FFEAE1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876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7FBF6"/>
                </a:solidFill>
              </a:defRPr>
            </a:pPr>
            <a:r>
              <a:rPr sz="1500" b="0">
                <a:solidFill>
                  <a:srgbClr val="E7FBF6"/>
                </a:solidFill>
              </a:rPr>
              <a:t>マシン名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235B89-BF1D-46E0-A36C-135EAA3B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147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E3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43AF4-41FF-409B-BA86-D9E6D522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194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7FBF6"/>
                </a:solidFill>
              </a:defRPr>
            </a:pPr>
            <a:r>
              <a:rPr sz="1500" b="0">
                <a:solidFill>
                  <a:srgbClr val="E7FBF6"/>
                </a:solidFill>
              </a:rPr>
              <a:t>個人の絶対パス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259844-5B30-4CEC-9384-786C633E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57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E3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6CB99-C283-46B8-82AE-FA175EEE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624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7FBF6"/>
                </a:solidFill>
              </a:defRPr>
            </a:pPr>
            <a:r>
              <a:rPr sz="1500" b="0">
                <a:solidFill>
                  <a:srgbClr val="E7FBF6"/>
                </a:solidFill>
              </a:rPr>
              <a:t>エージェント状態の場所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40DA2A-F98A-4035-9407-73CE2CF1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00600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AA4AC"/>
                </a:solidFill>
              </a:defRPr>
            </a:pPr>
            <a:r>
              <a:rPr sz="1425" b="0">
                <a:solidFill>
                  <a:srgbClr val="8AA4AC"/>
                </a:solidFill>
              </a:rPr>
              <a:t>通常実行は外部送信せず、トークンや環境変数を無制限に収集しません。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E435D3-601A-4E91-8BB9-BA9D9612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B56FBA-67C9-4151-8B69-6A650C45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19DE14-1B21-404F-A5EA-F2CE300D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2844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0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1CEFB8-DB81-4CBD-8CC6-AD82A90A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9E3CC"/>
                </a:solidFill>
              </a:defRPr>
            </a:pPr>
            <a:r>
              <a:rPr sz="1050" b="1">
                <a:solidFill>
                  <a:srgbClr val="69E3CC"/>
                </a:solidFill>
              </a:rPr>
              <a:t>06 · 次へ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F14089-B400-4428-BDB2-D22EC2A4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95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8AA4AC"/>
                </a:solidFill>
              </a:defRPr>
            </a:pPr>
            <a:r>
              <a:rPr sz="900" b="0">
                <a:solidFill>
                  <a:srgbClr val="8AA4AC"/>
                </a:solidFill>
              </a:rPr>
              <a:t>プレアルファ · 配布ファイルは未公開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91F42-B72E-4768-B9C2-D2D79194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95350"/>
            <a:ext cx="7239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E7FBF6"/>
                </a:solidFill>
              </a:defRPr>
            </a:pPr>
            <a:r>
              <a:rPr sz="3525" b="1">
                <a:solidFill>
                  <a:srgbClr val="E7FBF6"/>
                </a:solidFill>
              </a:rPr>
              <a:t>今はソース版。</a:t>
            </a:r>
          </a:p>
          <a:p xmlns:a="http://schemas.openxmlformats.org/drawingml/2006/main">
            <a:pPr algn="l">
              <a:defRPr sz="3525" b="1">
                <a:solidFill>
                  <a:srgbClr val="E7FBF6"/>
                </a:solidFill>
              </a:defRPr>
            </a:pPr>
            <a:r>
              <a:rPr sz="3525" b="1">
                <a:solidFill>
                  <a:srgbClr val="E7FBF6"/>
                </a:solidFill>
              </a:rPr>
              <a:t>次は、誰でも検証できるv0.1へ。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B0AB6-20CB-4FE5-A8A8-F3FCD510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62275"/>
            <a:ext cx="3219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D24"/>
          </a:solidFill>
          <a:ln xmlns:a="http://schemas.openxmlformats.org/drawingml/2006/main" w="9525">
            <a:solidFill>
              <a:srgbClr val="29465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8B22A-4CB1-490F-B544-9424D52C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9E3CC"/>
                </a:solidFill>
              </a:defRPr>
            </a:pPr>
            <a:r>
              <a:rPr sz="975" b="1">
                <a:solidFill>
                  <a:srgbClr val="69E3CC"/>
                </a:solidFill>
              </a:rPr>
              <a:t>完了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287764-1E5E-4F08-BC4E-06480812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7FBF6"/>
                </a:solidFill>
              </a:defRPr>
            </a:pPr>
            <a:r>
              <a:rPr sz="2100" b="1">
                <a:solidFill>
                  <a:srgbClr val="E7FBF6"/>
                </a:solidFill>
              </a:rPr>
              <a:t>根幹診断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5E691C-24A8-4F6A-B777-4982CB21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8AA4AC"/>
                </a:solidFill>
              </a:defRPr>
            </a:pPr>
            <a:r>
              <a:rPr sz="1275" b="0">
                <a:solidFill>
                  <a:srgbClr val="8AA4AC"/>
                </a:solidFill>
              </a:rPr>
              <a:t>実行環境・目的・説明・候補・匿名化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B23CE-4A71-4FC4-856D-52AC7B5C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962275"/>
            <a:ext cx="3219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D24"/>
          </a:solidFill>
          <a:ln xmlns:a="http://schemas.openxmlformats.org/drawingml/2006/main" w="9525">
            <a:solidFill>
              <a:srgbClr val="29465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F1577D-75CE-4472-8F4F-F0A6313A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1623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B8FF"/>
                </a:solidFill>
              </a:defRPr>
            </a:pPr>
            <a:r>
              <a:rPr sz="975" b="1">
                <a:solidFill>
                  <a:srgbClr val="55B8FF"/>
                </a:solidFill>
              </a:rPr>
              <a:t>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C8A33D-9635-450C-9E21-5B0A5CBA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5623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7FBF6"/>
                </a:solidFill>
              </a:defRPr>
            </a:pPr>
            <a:r>
              <a:rPr sz="2100" b="1">
                <a:solidFill>
                  <a:srgbClr val="E7FBF6"/>
                </a:solidFill>
              </a:rPr>
              <a:t>外部実測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48B24A-873D-4D20-A8FB-965FE160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11480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8AA4AC"/>
                </a:solidFill>
              </a:defRPr>
            </a:pPr>
            <a:r>
              <a:rPr sz="1275" b="0">
                <a:solidFill>
                  <a:srgbClr val="8AA4AC"/>
                </a:solidFill>
              </a:rPr>
              <a:t>Windows・WSLの再現性と操作感を確認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9A9738-F436-492B-B4B3-82F3076E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62275"/>
            <a:ext cx="32194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D1D24"/>
          </a:solidFill>
          <a:ln xmlns:a="http://schemas.openxmlformats.org/drawingml/2006/main" w="9525">
            <a:solidFill>
              <a:srgbClr val="29465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D2F06-6DDD-43C7-B88F-CF1C97B1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623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2BD66"/>
                </a:solidFill>
              </a:defRPr>
            </a:pPr>
            <a:r>
              <a:rPr sz="975" b="1">
                <a:solidFill>
                  <a:srgbClr val="F2BD66"/>
                </a:solidFill>
              </a:rPr>
              <a:t>公開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6BECF1-AA9B-44BF-B170-76CFCDA1A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5623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7FBF6"/>
                </a:solidFill>
              </a:defRPr>
            </a:pPr>
            <a:r>
              <a:rPr sz="2100" b="1">
                <a:solidFill>
                  <a:srgbClr val="E7FBF6"/>
                </a:solidFill>
              </a:rPr>
              <a:t>v0.1.0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69661C-B13C-4410-B906-64D76C8B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14800"/>
            <a:ext cx="2781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8AA4AC"/>
                </a:solidFill>
              </a:defRPr>
            </a:pPr>
            <a:r>
              <a:rPr sz="1275" b="0">
                <a:solidFill>
                  <a:srgbClr val="8AA4AC"/>
                </a:solidFill>
              </a:rPr>
              <a:t>Windows／Linux版＋チェックサム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767A54-41D7-4F45-AFA1-CAB011F8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10200"/>
            <a:ext cx="876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7FBF6"/>
                </a:solidFill>
              </a:defRPr>
            </a:pPr>
            <a:r>
              <a:rPr sz="1650" b="0">
                <a:solidFill>
                  <a:srgbClr val="E7FBF6"/>
                </a:solidFill>
              </a:rPr>
              <a:t>困った経験・使っている確認コマンド・プロトタイプの違和感をIssueへ。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A9DDA8-4A26-44AC-93FB-F6F1900E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9E3CC"/>
                </a:solidFill>
              </a:defRPr>
            </a:pPr>
            <a:r>
              <a:rPr sz="1800" b="1">
                <a:solidFill>
                  <a:srgbClr val="69E3CC"/>
                </a:solidFill>
              </a:rPr>
              <a:t>github.com/Tanasu0417/execlocus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49B081-8B36-43AE-920F-ED045ED2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924550"/>
            <a:ext cx="3581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5B8FF"/>
                </a:solidFill>
              </a:defRPr>
            </a:pPr>
            <a:r>
              <a:rPr sz="1350" b="0">
                <a:solidFill>
                  <a:srgbClr val="55B8FF"/>
                </a:solidFill>
              </a:rPr>
              <a:t>スター／Watch／検証報告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51FFC4-CD39-4D52-96BC-DC88A9D9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F8AA15-06FB-4041-98E3-58F0A5C9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00825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github.com/Tanasu0417/execlocus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50D3-B6CA-49D3-99C7-96A48286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6008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AA4AC"/>
                </a:solidFill>
              </a:defRPr>
            </a:pPr>
            <a:r>
              <a:rPr sz="825" b="0">
                <a:solidFill>
                  <a:srgbClr val="8AA4AC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447892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2026-07-29T12:04:21.9580000Z</dcterms:created>
  <dcterms:modified xsi:type="dcterms:W3CDTF">2026-07-29T12:04:21.9580000Z</dcterms:modified>
</coreProperties>
</file>